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54864"/>
          </a:xfrm>
          <a:prstGeom prst="rect">
            <a:avLst/>
          </a:prstGeom>
          <a:solidFill>
            <a:srgbClr val="5B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AI-Native Email Design Tooling</a:t>
            </a:r>
          </a:p>
          <a:p>
            <a:r>
              <a:rPr sz="2000" b="0" i="0">
                <a:solidFill>
                  <a:srgbClr val="C9CBF0"/>
                </a:solidFill>
                <a:latin typeface="Calibri"/>
              </a:rPr>
              <a:t>Thematic market research — Madoo AI as anchor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1752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9A9DC8"/>
                </a:solidFill>
                <a:latin typeface="Calibri"/>
              </a:rPr>
              <a:t>Martech · email design &amp; template generation · prompt-driven vs form-driven</a:t>
            </a:r>
          </a:p>
          <a:p>
            <a:r>
              <a:rPr sz="1400" b="0" i="0">
                <a:solidFill>
                  <a:srgbClr val="9A9DC8"/>
                </a:solidFill>
                <a:latin typeface="Calibri"/>
              </a:rPr>
              <a:t>Prepared 2026-06-30 · DRAFT for analyst review · internal only — not for publication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1206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FFC86B"/>
                </a:solidFill>
                <a:latin typeface="Calibri"/>
              </a:rPr>
              <a:t>⚠ DATA NOTICE — CapIQ/FactSet were NOT available. Every quantitative figure is an estimate / illustrative and must be refreshed from a live terminal before any reuse.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5B63FF"/>
                </a:solidFill>
                <a:latin typeface="Calibri"/>
              </a:rPr>
              <a:t>01 ·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71717"/>
                </a:solidFill>
                <a:latin typeface="Calibri"/>
              </a:rPr>
              <a:t>The wedge is real, but narrow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 i="1">
                <a:solidFill>
                  <a:srgbClr val="6F6961"/>
                </a:solidFill>
                <a:latin typeface="Calibri"/>
              </a:rPr>
              <a:t>Madoo AI · Thematic Market Research · DRAFT — internal, pre-decisional · figures [EST]/[ILLUSTRATIVE]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6F6961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50" b="0" i="0">
                <a:solidFill>
                  <a:srgbClr val="171717"/>
                </a:solidFill>
                <a:latin typeface="Calibri"/>
              </a:rPr>
              <a:t>▸ Bottleneck moved from distribution to PRODUCTION. Email is still top-ROI (~$36–42 per $1 [EST]); ESPs solved sending — copy + responsive HTML + cross-client rendering is the remaining friction. Madoo attacks exactly that.</a:t>
            </a:r>
          </a:p>
          <a:p>
            <a:pPr>
              <a:spcAft>
                <a:spcPts val="700"/>
              </a:spcAft>
            </a:pPr>
            <a:r>
              <a:rPr sz="1350" b="0" i="0">
                <a:solidFill>
                  <a:srgbClr val="171717"/>
                </a:solidFill>
                <a:latin typeface="Calibri"/>
              </a:rPr>
              <a:t>▸ Madoo is a design layer, NOT an ESP. Sits upstream; stops at create/validate/export. Clean positioning ("we feed your ESP") + real differentiator (export-anywhere, no lock-in) — also the root of its central risk.</a:t>
            </a:r>
          </a:p>
          <a:p>
            <a:pPr>
              <a:spcAft>
                <a:spcPts val="700"/>
              </a:spcAft>
            </a:pPr>
            <a:r>
              <a:rPr sz="1350" b="0" i="0">
                <a:solidFill>
                  <a:srgbClr val="171717"/>
                </a:solidFill>
                <a:latin typeface="Calibri"/>
              </a:rPr>
              <a:t>▸ Paradigm flip favors Madoo. Form-driven builders (BEEfree, Stripo, Unlayer) are being displaced by prompt-driven generation. Madoo is AI-native; incumbents retrofit — a real but TEMPORARY edge.</a:t>
            </a:r>
          </a:p>
          <a:p>
            <a:pPr>
              <a:spcAft>
                <a:spcPts val="700"/>
              </a:spcAft>
            </a:pPr>
            <a:r>
              <a:rPr sz="1350" b="0" i="0">
                <a:solidFill>
                  <a:srgbClr val="171717"/>
                </a:solidFill>
                <a:latin typeface="Calibri"/>
              </a:rPr>
              <a:t>▸ Existential question = "feature vs. company." Every ESP bundles its own AI builder free; they can commoditize design from above. Survival = meaningfully better AND ESP-agnostic.</a:t>
            </a:r>
          </a:p>
          <a:p>
            <a:pPr>
              <a:spcAft>
                <a:spcPts val="700"/>
              </a:spcAft>
            </a:pPr>
            <a:r>
              <a:rPr sz="1350" b="0" i="0">
                <a:solidFill>
                  <a:srgbClr val="171717"/>
                </a:solidFill>
                <a:latin typeface="Calibri"/>
              </a:rPr>
              <a:t>▸ Sizing [EST]: email-software TAM ~$7–9B → ~$18–28B by 2030; email-DESIGN sub-segment (true TAM) ~$0.4–1.2B; gen-AI-for-marketing tailwind ~30–40% CAGR. Big host market, small direct TAM.</a:t>
            </a:r>
          </a:p>
          <a:p>
            <a:pPr>
              <a:spcAft>
                <a:spcPts val="700"/>
              </a:spcAft>
            </a:pPr>
            <a:r>
              <a:rPr sz="1350" b="0" i="0">
                <a:solidFill>
                  <a:srgbClr val="171717"/>
                </a:solidFill>
                <a:latin typeface="Calibri"/>
              </a:rPr>
              <a:t>▸ Defensibility ≠ AI generation (copyable). It comes from a compounding workflow asset — brand kits + component libraries + approvals + multi-ESP export — making Madoo the system of record for email production.</a:t>
            </a:r>
          </a:p>
          <a:p>
            <a:pPr>
              <a:spcAft>
                <a:spcPts val="700"/>
              </a:spcAft>
            </a:pPr>
            <a:r>
              <a:rPr sz="1350" b="0" i="0">
                <a:solidFill>
                  <a:srgbClr val="171717"/>
                </a:solidFill>
                <a:latin typeface="Calibri"/>
              </a:rPr>
              <a:t>▸ First ICP: agencies &amp; e-commerce. Credit-based pricing fits a generation tool; land on credits, expand on seats / workspaces / white-label.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5B63FF"/>
                </a:solidFill>
                <a:latin typeface="Calibri"/>
              </a:rPr>
              <a:t>02 · THEME / SECTOR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71717"/>
                </a:solidFill>
                <a:latin typeface="Calibri"/>
              </a:rPr>
              <a:t>Why email, 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 i="1">
                <a:solidFill>
                  <a:srgbClr val="6F6961"/>
                </a:solidFill>
                <a:latin typeface="Calibri"/>
              </a:rPr>
              <a:t>Madoo AI · Thematic Market Research · DRAFT — internal, pre-decisional · figures [EST]/[ILLUSTRATIVE]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6F6961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0" i="0">
                <a:solidFill>
                  <a:srgbClr val="171717"/>
                </a:solidFill>
                <a:latin typeface="Calibri"/>
              </a:rPr>
              <a:t>▸ Email is structurally durable: owned (not rented) audience, highest-ROI digital channel by most surveys [EST]. Generative AI lowers the cost of producing MORE email — raising the premium on quality and differentiation.</a:t>
            </a:r>
          </a:p>
          <a:p>
            <a:pPr>
              <a:spcAft>
                <a:spcPts val="700"/>
              </a:spcAft>
            </a:pPr>
            <a:r>
              <a:rPr sz="1400" b="1" i="0">
                <a:solidFill>
                  <a:srgbClr val="171717"/>
                </a:solidFill>
                <a:latin typeface="Calibri"/>
              </a:rPr>
              <a:t>▸ The bottleneck has moved to creation:</a:t>
            </a:r>
          </a:p>
          <a:p>
            <a:pPr lvl="1">
              <a:spcAft>
                <a:spcPts val="700"/>
              </a:spcAft>
            </a:pPr>
            <a:r>
              <a:rPr sz="1300" b="0" i="0">
                <a:solidFill>
                  <a:srgbClr val="6F6961"/>
                </a:solidFill>
                <a:latin typeface="Calibri"/>
              </a:rPr>
              <a:t>– Write on-brand copy at content-calendar speed.</a:t>
            </a:r>
          </a:p>
          <a:p>
            <a:pPr lvl="1">
              <a:spcAft>
                <a:spcPts val="700"/>
              </a:spcAft>
            </a:pPr>
            <a:r>
              <a:rPr sz="1300" b="0" i="0">
                <a:solidFill>
                  <a:srgbClr val="6F6961"/>
                </a:solidFill>
                <a:latin typeface="Calibri"/>
              </a:rPr>
              <a:t>– Build responsive HTML that survives the rendering zoo (Outlook/Word engine, Gmail clipping, dark mode, Apple Mail privacy).</a:t>
            </a:r>
          </a:p>
          <a:p>
            <a:pPr>
              <a:spcAft>
                <a:spcPts val="700"/>
              </a:spcAft>
            </a:pPr>
            <a:r>
              <a:rPr sz="1400" b="1" i="0">
                <a:solidFill>
                  <a:srgbClr val="171717"/>
                </a:solidFill>
                <a:latin typeface="Calibri"/>
              </a:rPr>
              <a:t>▸ The UX paradigm is flipping:</a:t>
            </a:r>
          </a:p>
          <a:p>
            <a:pPr lvl="1">
              <a:spcAft>
                <a:spcPts val="700"/>
              </a:spcAft>
            </a:pPr>
            <a:r>
              <a:rPr sz="1300" b="0" i="0">
                <a:solidFill>
                  <a:srgbClr val="6F6961"/>
                </a:solidFill>
                <a:latin typeface="Calibri"/>
              </a:rPr>
              <a:t>– Last decade = form-driven drag-and-drop (BEEfree, Stripo, Unlayer, Mailchimp editor).</a:t>
            </a:r>
          </a:p>
          <a:p>
            <a:pPr lvl="1">
              <a:spcAft>
                <a:spcPts val="700"/>
              </a:spcAft>
            </a:pPr>
            <a:r>
              <a:rPr sz="1300" b="0" i="0">
                <a:solidFill>
                  <a:srgbClr val="6F6961"/>
                </a:solidFill>
                <a:latin typeface="Calibri"/>
              </a:rPr>
              <a:t>– Emerging = prompt-driven generation (describe → draft → refine by chat). Mirrors v0/Lovable/Bolt for UIs, Cursor for code.</a:t>
            </a:r>
          </a:p>
          <a:p>
            <a:pPr>
              <a:spcAft>
                <a:spcPts val="700"/>
              </a:spcAft>
            </a:pPr>
            <a:r>
              <a:rPr sz="1400" b="0" i="0">
                <a:solidFill>
                  <a:srgbClr val="171717"/>
                </a:solidFill>
                <a:latin typeface="Calibri"/>
              </a:rPr>
              <a:t>▸ Madoo applies the prompt-to-artifact pattern to email — and adds QA + collaboration + export.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5B63FF"/>
                </a:solidFill>
                <a:latin typeface="Calibri"/>
              </a:rPr>
              <a:t>03 · VALUE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71717"/>
                </a:solidFill>
                <a:latin typeface="Calibri"/>
              </a:rPr>
              <a:t>Madoo owns one box — and deliberately not the ESP box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 i="1">
                <a:solidFill>
                  <a:srgbClr val="6F6961"/>
                </a:solidFill>
                <a:latin typeface="Calibri"/>
              </a:rPr>
              <a:t>Madoo AI · Thematic Market Research · DRAFT — internal, pre-decisional · figures [EST]/[ILLUSTRATIVE]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6F6961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71717"/>
                </a:solidFill>
                <a:latin typeface="Calibri"/>
              </a:rPr>
              <a:t>[Brief / brand assets] → [ DESIGN &amp; PRODUCTION ◄ Madoo ] → [ ESP: list · send · deliverability · analytics · compliance ] → [Inbox]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1752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 i="0">
                <a:solidFill>
                  <a:srgbClr val="171717"/>
                </a:solidFill>
                <a:latin typeface="Calibri"/>
              </a:rPr>
              <a:t>▸ Madoo = prompt → copy + responsive HTML · brand kit · templates · test/validate · collaborate · export.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171717"/>
                </a:solidFill>
                <a:latin typeface="Calibri"/>
              </a:rPr>
              <a:t>▸ Strength: clean boundary — "we don't compete with your ESP, we feed it." Builds trust, kills the integration objection.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171717"/>
                </a:solidFill>
                <a:latin typeface="Calibri"/>
              </a:rPr>
              <a:t>▸ Weakness: the ESP box is where the recurring, sticky, data-rich relationship lives. The design box has low data gravity and portable output.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171717"/>
                </a:solidFill>
                <a:latin typeface="Calibri"/>
              </a:rPr>
              <a:t>▸ Strategic implication: defensibility must be manufactured in the design box (process + brand-kit + distribution), since it can't be inherited from owning the list.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5B63FF"/>
                </a:solidFill>
                <a:latin typeface="Calibri"/>
              </a:rPr>
              <a:t>04 · MARKET SIZING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71717"/>
                </a:solidFill>
                <a:latin typeface="Calibri"/>
              </a:rPr>
              <a:t>Large host market, small direct TAM (all figures [EST])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 i="1">
                <a:solidFill>
                  <a:srgbClr val="6F6961"/>
                </a:solidFill>
                <a:latin typeface="Calibri"/>
              </a:rPr>
              <a:t>Madoo AI · Thematic Market Research · DRAFT — internal, pre-decisional · figures [EST]/[ILLUSTRATIVE]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6F6961"/>
                </a:solidFill>
                <a:latin typeface="Calibri"/>
              </a:rPr>
              <a:t>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965960"/>
          <a:ext cx="11091670" cy="33649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72918"/>
                <a:gridCol w="1813061"/>
                <a:gridCol w="2879568"/>
                <a:gridCol w="3626123"/>
              </a:tblGrid>
              <a:tr h="841248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Slice</a:t>
                      </a:r>
                    </a:p>
                  </a:txBody>
                  <a:tcPr marT="25400" marB="25400" marL="63500" marR="63500" anchor="ctr">
                    <a:solidFill>
                      <a:srgbClr val="222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Today</a:t>
                      </a:r>
                    </a:p>
                  </a:txBody>
                  <a:tcPr marT="25400" marB="25400" marL="63500" marR="63500" anchor="ctr">
                    <a:solidFill>
                      <a:srgbClr val="222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Forecast</a:t>
                      </a:r>
                    </a:p>
                  </a:txBody>
                  <a:tcPr marT="25400" marB="25400" marL="63500" marR="63500" anchor="ctr">
                    <a:solidFill>
                      <a:srgbClr val="222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 marT="25400" marB="25400" marL="63500" marR="63500" anchor="ctr">
                    <a:solidFill>
                      <a:srgbClr val="22264B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71717"/>
                          </a:solidFill>
                          <a:latin typeface="Calibri"/>
                        </a:rPr>
                        <a:t>Email marketing software TAM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~$7–9B (2024)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~$18–28B by 2030 · 13–18% CAGR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Spend pools at the ESP/platform layer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71717"/>
                          </a:solidFill>
                          <a:latin typeface="Calibri"/>
                        </a:rPr>
                        <a:t>Email DESIGN sub-segment
(Madoo true TAM)</a:t>
                      </a:r>
                    </a:p>
                  </a:txBody>
                  <a:tcPr marT="25400" marB="25400"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~$0.4–1.2B</a:t>
                      </a:r>
                    </a:p>
                  </a:txBody>
                  <a:tcPr marT="25400" marB="25400"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~$1.5–3B by 2030 · 15–25% CAGR</a:t>
                      </a:r>
                    </a:p>
                  </a:txBody>
                  <a:tcPr marT="25400" marB="25400"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Minority slice (~5–15%) of email-software spend + shiftable agency design budget</a:t>
                      </a:r>
                    </a:p>
                  </a:txBody>
                  <a:tcPr marT="25400" marB="25400" marL="63500" marR="63500" anchor="ctr"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71717"/>
                          </a:solidFill>
                          <a:latin typeface="Calibri"/>
                        </a:rPr>
                        <a:t>Gen-AI for marketing content
(tailwind, not TAM)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~$2–4B (2024)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~$20–50B by 2030 · 30–40% CAGR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Why every ESP is adding AI; Madoo captures only the email-design fraction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48640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>
                <a:solidFill>
                  <a:srgbClr val="6F6961"/>
                </a:solidFill>
                <a:latin typeface="Calibri"/>
              </a:rPr>
              <a:t>Read: a large, growing host market (email software) wrapped around a much smaller, less-cleanly-defined direct TAM, lifted by a fast gen-AI tailwind. All figures [EST] — refresh before reuse.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5B63FF"/>
                </a:solidFill>
                <a:latin typeface="Calibri"/>
              </a:rPr>
              <a:t>05 · TAM TRIANGULATION (APPENDIX 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71717"/>
                </a:solidFill>
                <a:latin typeface="Calibri"/>
              </a:rPr>
              <a:t>Three methods converge: core SAM ~$0.4–1.2B [EST]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 i="1">
                <a:solidFill>
                  <a:srgbClr val="6F6961"/>
                </a:solidFill>
                <a:latin typeface="Calibri"/>
              </a:rPr>
              <a:t>Madoo AI · Thematic Market Research · DRAFT — internal, pre-decisional · figures [EST]/[ILLUSTRATIVE]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6F6961"/>
                </a:solidFill>
                <a:latin typeface="Calibri"/>
              </a:rPr>
              <a:t>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965960"/>
          <a:ext cx="11091670" cy="28529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0530"/>
                <a:gridCol w="4768382"/>
                <a:gridCol w="1347586"/>
                <a:gridCol w="1347586"/>
                <a:gridCol w="1347586"/>
              </a:tblGrid>
              <a:tr h="713232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T="25400" marB="25400" marL="63500" marR="63500" anchor="ctr">
                    <a:solidFill>
                      <a:srgbClr val="222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Logic</a:t>
                      </a:r>
                    </a:p>
                  </a:txBody>
                  <a:tcPr marT="25400" marB="25400" marL="63500" marR="63500" anchor="ctr">
                    <a:solidFill>
                      <a:srgbClr val="222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T="25400" marB="25400" marL="63500" marR="63500" anchor="ctr">
                    <a:solidFill>
                      <a:srgbClr val="222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Mid</a:t>
                      </a:r>
                    </a:p>
                  </a:txBody>
                  <a:tcPr marT="25400" marB="25400" marL="63500" marR="63500" anchor="ctr">
                    <a:solidFill>
                      <a:srgbClr val="222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T="25400" marB="25400" marL="63500" marR="63500" anchor="ctr">
                    <a:solidFill>
                      <a:srgbClr val="22264B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71717"/>
                          </a:solidFill>
                          <a:latin typeface="Calibri"/>
                        </a:rPr>
                        <a:t>A — Top-down slice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Calibri"/>
                        </a:rPr>
                        <a:t>Email-software TAM $7–9B × design share 5–15%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Calibri"/>
                        </a:rPr>
                        <a:t>$0.35B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Calibri"/>
                        </a:rPr>
                        <a:t>$0.8B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Calibri"/>
                        </a:rPr>
                        <a:t>$1.35B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71717"/>
                          </a:solidFill>
                          <a:latin typeface="Calibri"/>
                        </a:rPr>
                        <a:t>B — Bottoms-up by orgs</a:t>
                      </a:r>
                    </a:p>
                  </a:txBody>
                  <a:tcPr marT="25400" marB="25400"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Calibri"/>
                        </a:rPr>
                        <a:t>300k–1.2M paying-capable orgs × ARPA $300–1,140</a:t>
                      </a:r>
                    </a:p>
                  </a:txBody>
                  <a:tcPr marT="25400" marB="25400"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Calibri"/>
                        </a:rPr>
                        <a:t>$90M</a:t>
                      </a:r>
                    </a:p>
                  </a:txBody>
                  <a:tcPr marT="25400" marB="25400"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Calibri"/>
                        </a:rPr>
                        <a:t>$300M</a:t>
                      </a:r>
                    </a:p>
                  </a:txBody>
                  <a:tcPr marT="25400" marB="25400"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Calibri"/>
                        </a:rPr>
                        <a:t>$1.37B</a:t>
                      </a:r>
                    </a:p>
                  </a:txBody>
                  <a:tcPr marT="25400" marB="25400" marL="63500" marR="63500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71717"/>
                          </a:solidFill>
                          <a:latin typeface="Calibri"/>
                        </a:rPr>
                        <a:t>C — Agency displacement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Calibri"/>
                        </a:rPr>
                        <a:t>150k–250k agencies/freelancers × $500–2,000/yr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Calibri"/>
                        </a:rPr>
                        <a:t>$75M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Calibri"/>
                        </a:rPr>
                        <a:t>$200M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Calibri"/>
                        </a:rPr>
                        <a:t>$500M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16052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0" i="0">
                <a:solidFill>
                  <a:srgbClr val="171717"/>
                </a:solidFill>
                <a:latin typeface="Calibri"/>
              </a:rPr>
              <a:t>▸ Triangulated core SAM today ~$0.4–1.2B [EST], midpoint ~$0.7–0.9B — tightens prior $0.5–1.5B and lowers the top end.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171717"/>
                </a:solidFill>
                <a:latin typeface="Calibri"/>
              </a:rPr>
              <a:t>▸ SOM (early, obtainable): 0.5–2% of ~$0.8B → ~$4–16M ARR for self-serve + agency motion alone.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171717"/>
                </a:solidFill>
                <a:latin typeface="Calibri"/>
              </a:rPr>
              <a:t>▸ Venture scale ($100M+ ARR) REQUIRES expanding the layer (API/embed + white-label) — the pure-tool ceiling is modest. This is the single most important strategic takeaway from sizing.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5B63FF"/>
                </a:solidFill>
                <a:latin typeface="Calibri"/>
              </a:rPr>
              <a:t>06 · 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71717"/>
                </a:solidFill>
                <a:latin typeface="Calibri"/>
              </a:rPr>
              <a:t>Three rings around Madoo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 i="1">
                <a:solidFill>
                  <a:srgbClr val="6F6961"/>
                </a:solidFill>
                <a:latin typeface="Calibri"/>
              </a:rPr>
              <a:t>Madoo AI · Thematic Market Research · DRAFT — internal, pre-decisional · figures [EST]/[ILLUSTRATIVE]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6F6961"/>
                </a:solidFill>
                <a:latin typeface="Calibri"/>
              </a:rPr>
              <a:t>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965960"/>
          <a:ext cx="11091671" cy="3657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88056"/>
                <a:gridCol w="4806391"/>
                <a:gridCol w="3697224"/>
              </a:tblGrid>
              <a:tr h="91440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Segment</a:t>
                      </a:r>
                    </a:p>
                  </a:txBody>
                  <a:tcPr marT="25400" marB="25400" marL="63500" marR="63500" anchor="ctr">
                    <a:solidFill>
                      <a:srgbClr val="222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Who</a:t>
                      </a:r>
                    </a:p>
                  </a:txBody>
                  <a:tcPr marT="25400" marB="25400" marL="63500" marR="63500" anchor="ctr">
                    <a:solidFill>
                      <a:srgbClr val="222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Relationship to Madoo</a:t>
                      </a:r>
                    </a:p>
                  </a:txBody>
                  <a:tcPr marT="25400" marB="25400" marL="63500" marR="63500" anchor="ctr">
                    <a:solidFill>
                      <a:srgbClr val="22264B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71717"/>
                          </a:solidFill>
                          <a:latin typeface="Calibri"/>
                        </a:rPr>
                        <a:t>(a) Direct: email design / template builders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Calibri"/>
                        </a:rPr>
                        <a:t>BEEfree, Stripo, Unlayer, Postcards, Topol, Chamaileon, Knak, Tabular, Parcel, Maizzle, Mailmodo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Calibri"/>
                        </a:rPr>
                        <a:t>Compete head-on; mostly form-first retrofitting AI — Madoo is prompt-native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71717"/>
                          </a:solidFill>
                          <a:latin typeface="Calibri"/>
                        </a:rPr>
                        <a:t>(b) ESPs commoditizing "from above"</a:t>
                      </a:r>
                    </a:p>
                  </a:txBody>
                  <a:tcPr marT="25400" marB="25400"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Calibri"/>
                        </a:rPr>
                        <a:t>Mailchimp/Intuit, Klaviyo, HubSpot, Brevo, Constant Contact, ActiveCampaign, beehiiv/Substack</a:t>
                      </a:r>
                    </a:p>
                  </a:txBody>
                  <a:tcPr marT="25400" marB="25400"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Calibri"/>
                        </a:rPr>
                        <a:t>THE real threat — bundle AI builder free; own the list + send</a:t>
                      </a:r>
                    </a:p>
                  </a:txBody>
                  <a:tcPr marT="25400" marB="25400" marL="63500" marR="63500"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71717"/>
                          </a:solidFill>
                          <a:latin typeface="Calibri"/>
                        </a:rPr>
                        <a:t>(c) Prompt-to-artifact analogs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Calibri"/>
                        </a:rPr>
                        <a:t>v0, Lovable, Bolt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Calibri"/>
                        </a:rPr>
                        <a:t>Not competitors — validate the motion; Madoo is "v0/Lovable for email"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57784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>
                <a:solidFill>
                  <a:srgbClr val="6F6961"/>
                </a:solidFill>
                <a:latin typeface="Calibri"/>
              </a:rPr>
              <a:t>Madoo's defense is strongest for users who are NOT single-ESP loyalists — agencies (many clients, many ESPs) and operators who switch.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5B63FF"/>
                </a:solidFill>
                <a:latin typeface="Calibri"/>
              </a:rPr>
              <a:t>06A · DIRECT COMPETITORS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71717"/>
                </a:solidFill>
                <a:latin typeface="Calibri"/>
              </a:rPr>
              <a:t>Most are form-first retrofitting AI; Madoo is prompt-native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 i="1">
                <a:solidFill>
                  <a:srgbClr val="6F6961"/>
                </a:solidFill>
                <a:latin typeface="Calibri"/>
              </a:rPr>
              <a:t>Madoo AI · Thematic Market Research · DRAFT — internal, pre-decisional · figures [EST]/[ILLUSTRATIVE]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6F6961"/>
                </a:solidFill>
                <a:latin typeface="Calibri"/>
              </a:rPr>
              <a:t>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874519"/>
          <a:ext cx="11091669" cy="46085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03523"/>
                <a:gridCol w="3607047"/>
                <a:gridCol w="1623171"/>
                <a:gridCol w="2344581"/>
                <a:gridCol w="1713347"/>
              </a:tblGrid>
              <a:tr h="658368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Player</a:t>
                      </a:r>
                    </a:p>
                  </a:txBody>
                  <a:tcPr marT="25400" marB="25400" marL="63500" marR="63500" anchor="ctr">
                    <a:solidFill>
                      <a:srgbClr val="222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Positioning</a:t>
                      </a:r>
                    </a:p>
                  </a:txBody>
                  <a:tcPr marT="25400" marB="25400" marL="63500" marR="63500" anchor="ctr">
                    <a:solidFill>
                      <a:srgbClr val="222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AI posture</a:t>
                      </a:r>
                    </a:p>
                  </a:txBody>
                  <a:tcPr marT="25400" marB="25400" marL="63500" marR="63500" anchor="ctr">
                    <a:solidFill>
                      <a:srgbClr val="222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Export / lock-in</a:t>
                      </a:r>
                    </a:p>
                  </a:txBody>
                  <a:tcPr marT="25400" marB="25400" marL="63500" marR="63500" anchor="ctr">
                    <a:solidFill>
                      <a:srgbClr val="222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Pricing [EST]</a:t>
                      </a:r>
                    </a:p>
                  </a:txBody>
                  <a:tcPr marT="25400" marB="25400" marL="63500" marR="63500" anchor="ctr">
                    <a:solidFill>
                      <a:srgbClr val="22264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171717"/>
                          </a:solidFill>
                          <a:latin typeface="Calibri"/>
                        </a:rPr>
                        <a:t>BEEfree (Growens)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3333"/>
                          </a:solidFill>
                          <a:latin typeface="Calibri"/>
                        </a:rPr>
                        <a:t>Market-leading DnD email+page builder; embeddable SDK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3333"/>
                          </a:solidFill>
                          <a:latin typeface="Calibri"/>
                        </a:rPr>
                        <a:t>Retrofitted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3333"/>
                          </a:solidFill>
                          <a:latin typeface="Calibri"/>
                        </a:rPr>
                        <a:t>Strong HTML export; open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3333"/>
                          </a:solidFill>
                          <a:latin typeface="Calibri"/>
                        </a:rPr>
                        <a:t>Freemium + seat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171717"/>
                          </a:solidFill>
                          <a:latin typeface="Calibri"/>
                        </a:rPr>
                        <a:t>Stripo</a:t>
                      </a:r>
                    </a:p>
                  </a:txBody>
                  <a:tcPr marT="25400" marB="25400"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3333"/>
                          </a:solidFill>
                          <a:latin typeface="Calibri"/>
                        </a:rPr>
                        <a:t>Deep template library; ESP export integrations</a:t>
                      </a:r>
                    </a:p>
                  </a:txBody>
                  <a:tcPr marT="25400" marB="25400"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3333"/>
                          </a:solidFill>
                          <a:latin typeface="Calibri"/>
                        </a:rPr>
                        <a:t>Retrofitted</a:t>
                      </a:r>
                    </a:p>
                  </a:txBody>
                  <a:tcPr marT="25400" marB="25400"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3333"/>
                          </a:solidFill>
                          <a:latin typeface="Calibri"/>
                        </a:rPr>
                        <a:t>Export to 70+ ESPs; low</a:t>
                      </a:r>
                    </a:p>
                  </a:txBody>
                  <a:tcPr marT="25400" marB="25400"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3333"/>
                          </a:solidFill>
                          <a:latin typeface="Calibri"/>
                        </a:rPr>
                        <a:t>Freemium → seat/volume</a:t>
                      </a:r>
                    </a:p>
                  </a:txBody>
                  <a:tcPr marT="25400" marB="25400" marL="63500" marR="6350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171717"/>
                          </a:solidFill>
                          <a:latin typeface="Calibri"/>
                        </a:rPr>
                        <a:t>Unlayer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3333"/>
                          </a:solidFill>
                          <a:latin typeface="Calibri"/>
                        </a:rPr>
                        <a:t>Embeddable editor; developer-first white-label SDK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3333"/>
                          </a:solidFill>
                          <a:latin typeface="Calibri"/>
                        </a:rPr>
                        <a:t>Retrofitted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3333"/>
                          </a:solidFill>
                          <a:latin typeface="Calibri"/>
                        </a:rPr>
                        <a:t>Built to embed; open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3333"/>
                          </a:solidFill>
                          <a:latin typeface="Calibri"/>
                        </a:rPr>
                        <a:t>Seat + API tiers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171717"/>
                          </a:solidFill>
                          <a:latin typeface="Calibri"/>
                        </a:rPr>
                        <a:t>Knak (Insight)</a:t>
                      </a:r>
                    </a:p>
                  </a:txBody>
                  <a:tcPr marT="25400" marB="25400"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3333"/>
                          </a:solidFill>
                          <a:latin typeface="Calibri"/>
                        </a:rPr>
                        <a:t>Enterprise no-code; Marketo/Eloqua; governance</a:t>
                      </a:r>
                    </a:p>
                  </a:txBody>
                  <a:tcPr marT="25400" marB="25400"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3333"/>
                          </a:solidFill>
                          <a:latin typeface="Calibri"/>
                        </a:rPr>
                        <a:t>Retrofitted (ent.)</a:t>
                      </a:r>
                    </a:p>
                  </a:txBody>
                  <a:tcPr marT="25400" marB="25400"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3333"/>
                          </a:solidFill>
                          <a:latin typeface="Calibri"/>
                        </a:rPr>
                        <a:t>Sync to enterprise MAPs</a:t>
                      </a:r>
                    </a:p>
                  </a:txBody>
                  <a:tcPr marT="25400" marB="25400"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3333"/>
                          </a:solidFill>
                          <a:latin typeface="Calibri"/>
                        </a:rPr>
                        <a:t>Enterprise/seat</a:t>
                      </a:r>
                    </a:p>
                  </a:txBody>
                  <a:tcPr marT="25400" marB="25400" marL="63500" marR="6350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171717"/>
                          </a:solidFill>
                          <a:latin typeface="Calibri"/>
                        </a:rPr>
                        <a:t>Parcel / Maizzle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3333"/>
                          </a:solidFill>
                          <a:latin typeface="Calibri"/>
                        </a:rPr>
                        <a:t>Code-first email IDE / OSS Tailwind framework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3333"/>
                          </a:solidFill>
                          <a:latin typeface="Calibri"/>
                        </a:rPr>
                        <a:t>Dev tooling / none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3333"/>
                          </a:solidFill>
                          <a:latin typeface="Calibri"/>
                        </a:rPr>
                        <a:t>Fully open, own the code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3333"/>
                          </a:solidFill>
                          <a:latin typeface="Calibri"/>
                        </a:rPr>
                        <a:t>Seat / free OSS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171717"/>
                          </a:solidFill>
                          <a:latin typeface="Calibri"/>
                        </a:rPr>
                        <a:t>Mailmodo</a:t>
                      </a:r>
                    </a:p>
                  </a:txBody>
                  <a:tcPr marT="25400" marB="25400"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3333"/>
                          </a:solidFill>
                          <a:latin typeface="Calibri"/>
                        </a:rPr>
                        <a:t>AMP/interactive email; leans toward send (ESP edge)</a:t>
                      </a:r>
                    </a:p>
                  </a:txBody>
                  <a:tcPr marT="25400" marB="25400"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3333"/>
                          </a:solidFill>
                          <a:latin typeface="Calibri"/>
                        </a:rPr>
                        <a:t>AI added</a:t>
                      </a:r>
                    </a:p>
                  </a:txBody>
                  <a:tcPr marT="25400" marB="25400"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3333"/>
                          </a:solidFill>
                          <a:latin typeface="Calibri"/>
                        </a:rPr>
                        <a:t>Sends too (broader)</a:t>
                      </a:r>
                    </a:p>
                  </a:txBody>
                  <a:tcPr marT="25400" marB="25400"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3333"/>
                          </a:solidFill>
                          <a:latin typeface="Calibri"/>
                        </a:rPr>
                        <a:t>Contact/volume tiers</a:t>
                      </a:r>
                    </a:p>
                  </a:txBody>
                  <a:tcPr marT="25400" marB="25400" marL="63500" marR="635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94360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>
                <a:solidFill>
                  <a:srgbClr val="6F6961"/>
                </a:solidFill>
                <a:latin typeface="Calibri"/>
              </a:rPr>
              <a:t>Madoo differentiators: prompt-native (not retrofitted) · export-anywhere/no-lock-in · test+validation engine · collaboration/workspaces · bilingual EN/ES. Exposure: thin wedge; "AI-native" is copyable.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5B63FF"/>
                </a:solidFill>
                <a:latin typeface="Calibri"/>
              </a:rPr>
              <a:t>06B · THE REAL THREAT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71717"/>
                </a:solidFill>
                <a:latin typeface="Calibri"/>
              </a:rPr>
              <a:t>ESPs can commoditize design "from above"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 i="1">
                <a:solidFill>
                  <a:srgbClr val="6F6961"/>
                </a:solidFill>
                <a:latin typeface="Calibri"/>
              </a:rPr>
              <a:t>Madoo AI · Thematic Market Research · DRAFT — internal, pre-decisional · figures [EST]/[ILLUSTRATIVE]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6F6961"/>
                </a:solidFill>
                <a:latin typeface="Calibri"/>
              </a:rPr>
              <a:t>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965960"/>
          <a:ext cx="11091671" cy="384047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57779"/>
                <a:gridCol w="6100419"/>
                <a:gridCol w="2033473"/>
              </a:tblGrid>
              <a:tr h="640079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Player</a:t>
                      </a:r>
                    </a:p>
                  </a:txBody>
                  <a:tcPr marT="25400" marB="25400" marL="63500" marR="63500" anchor="ctr">
                    <a:solidFill>
                      <a:srgbClr val="222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Why it threatens Madoo</a:t>
                      </a:r>
                    </a:p>
                  </a:txBody>
                  <a:tcPr marT="25400" marB="25400" marL="63500" marR="63500" anchor="ctr">
                    <a:solidFill>
                      <a:srgbClr val="222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AI builder</a:t>
                      </a:r>
                    </a:p>
                  </a:txBody>
                  <a:tcPr marT="25400" marB="25400" marL="63500" marR="63500" anchor="ctr">
                    <a:solidFill>
                      <a:srgbClr val="22264B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71717"/>
                          </a:solidFill>
                          <a:latin typeface="Calibri"/>
                        </a:rPr>
                        <a:t>Mailchimp (Intuit) [INTU]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Calibri"/>
                        </a:rPr>
                        <a:t>Default SMB platform; Intuit Assist generative AI across products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Calibri"/>
                        </a:rPr>
                        <a:t>Bundled free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71717"/>
                          </a:solidFill>
                          <a:latin typeface="Calibri"/>
                        </a:rPr>
                        <a:t>Klaviyo [KVYO]</a:t>
                      </a:r>
                    </a:p>
                  </a:txBody>
                  <a:tcPr marT="25400" marB="25400"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Calibri"/>
                        </a:rPr>
                        <a:t>Dominant e-commerce ESP — Madoo's top ICP overlap</a:t>
                      </a:r>
                    </a:p>
                  </a:txBody>
                  <a:tcPr marT="25400" marB="25400"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Calibri"/>
                        </a:rPr>
                        <a:t>Native AI; bundled</a:t>
                      </a:r>
                    </a:p>
                  </a:txBody>
                  <a:tcPr marT="25400" marB="25400" marL="63500" marR="63500" anchor="ctr">
                    <a:solidFill>
                      <a:srgbClr val="FFFFFF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71717"/>
                          </a:solidFill>
                          <a:latin typeface="Calibri"/>
                        </a:rPr>
                        <a:t>HubSpot [HUBS]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Calibri"/>
                        </a:rPr>
                        <a:t>All-in-one martech; "Breeze" AI across content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Calibri"/>
                        </a:rPr>
                        <a:t>Native AI; bundled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71717"/>
                          </a:solidFill>
                          <a:latin typeface="Calibri"/>
                        </a:rPr>
                        <a:t>Brevo / Constant Contact / ActiveCampaign</a:t>
                      </a:r>
                    </a:p>
                  </a:txBody>
                  <a:tcPr marT="25400" marB="25400"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Calibri"/>
                        </a:rPr>
                        <a:t>SMB/mid all-in-one; design + send + CRM</a:t>
                      </a:r>
                    </a:p>
                  </a:txBody>
                  <a:tcPr marT="25400" marB="25400"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Calibri"/>
                        </a:rPr>
                        <a:t>AI assist; bundled</a:t>
                      </a:r>
                    </a:p>
                  </a:txBody>
                  <a:tcPr marT="25400" marB="25400" marL="63500" marR="63500" anchor="ctr">
                    <a:solidFill>
                      <a:srgbClr val="FFFFFF"/>
                    </a:solidFill>
                  </a:tcPr>
                </a:tc>
              </a:tr>
              <a:tr h="640084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71717"/>
                          </a:solidFill>
                          <a:latin typeface="Calibri"/>
                        </a:rPr>
                        <a:t>beehiiv / Substack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Calibri"/>
                        </a:rPr>
                        <a:t>Newsletter-native creation + send + monetization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Calibri"/>
                        </a:rPr>
                        <a:t>Built-in + AI; bundled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34924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 i="0">
                <a:solidFill>
                  <a:srgbClr val="171717"/>
                </a:solidFill>
                <a:latin typeface="Calibri"/>
              </a:rPr>
              <a:t>▸ "From above" risk: they own the customer, the list, and the send. If bundled AI is "good enough," the standalone tool's value compresses to "marginally better + works across ESPs."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171717"/>
                </a:solidFill>
                <a:latin typeface="Calibri"/>
              </a:rPr>
              <a:t>▸ Madoo's defense = exactly those two italics: better output + ESP-agnosticism, plus QA + collaboration — strongest for multi-ESP buyers (agencies, switchers).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5B63FF"/>
                </a:solidFill>
                <a:latin typeface="Calibri"/>
              </a:rPr>
              <a:t>07 · PUBLIC COMPS (PROXY CONTEXT)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71717"/>
                </a:solidFill>
                <a:latin typeface="Calibri"/>
              </a:rPr>
              <a:t>Illustrative valuation band — NOT live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 i="1">
                <a:solidFill>
                  <a:srgbClr val="6F6961"/>
                </a:solidFill>
                <a:latin typeface="Calibri"/>
              </a:rPr>
              <a:t>Madoo AI · Thematic Market Research · DRAFT — internal, pre-decisional · figures [EST]/[ILLUSTRATIVE]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6F6961"/>
                </a:solidFill>
                <a:latin typeface="Calibri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27632"/>
            <a:ext cx="11091672" cy="384048"/>
          </a:xfrm>
          <a:prstGeom prst="rect">
            <a:avLst/>
          </a:prstGeom>
          <a:solidFill>
            <a:srgbClr val="FFF3DC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950" b="1" i="0">
                <a:solidFill>
                  <a:srgbClr val="B45309"/>
                </a:solidFill>
                <a:latin typeface="Calibri"/>
              </a:rPr>
              <a:t>⚠ CapIQ/FactSet NOT available. Figures below are ILLUSTRATIVE (≈Jan-2026 knowledge), not live quotes. Refresh before any client/decision use. Madoo is private — these bound the ceiling, not the entry.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148840"/>
          <a:ext cx="11091669" cy="4114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6667"/>
                <a:gridCol w="2200001"/>
                <a:gridCol w="1191667"/>
                <a:gridCol w="1375000"/>
                <a:gridCol w="1466667"/>
                <a:gridCol w="1283333"/>
                <a:gridCol w="2658334"/>
              </a:tblGrid>
              <a:tr h="45720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Ticker</a:t>
                      </a:r>
                    </a:p>
                  </a:txBody>
                  <a:tcPr marT="25400" marB="25400" marL="63500" marR="63500" anchor="ctr">
                    <a:solidFill>
                      <a:srgbClr val="222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Company</a:t>
                      </a:r>
                    </a:p>
                  </a:txBody>
                  <a:tcPr marT="25400" marB="25400" marL="63500" marR="63500" anchor="ctr">
                    <a:solidFill>
                      <a:srgbClr val="222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EV/Rev</a:t>
                      </a:r>
                    </a:p>
                  </a:txBody>
                  <a:tcPr marT="25400" marB="25400" marL="63500" marR="63500" anchor="ctr">
                    <a:solidFill>
                      <a:srgbClr val="222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Rev growth</a:t>
                      </a:r>
                    </a:p>
                  </a:txBody>
                  <a:tcPr marT="25400" marB="25400" marL="63500" marR="63500" anchor="ctr">
                    <a:solidFill>
                      <a:srgbClr val="222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Gross margin</a:t>
                      </a:r>
                    </a:p>
                  </a:txBody>
                  <a:tcPr marT="25400" marB="25400" marL="63500" marR="63500" anchor="ctr">
                    <a:solidFill>
                      <a:srgbClr val="222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Rule of 40</a:t>
                      </a:r>
                    </a:p>
                  </a:txBody>
                  <a:tcPr marT="25400" marB="25400" marL="63500" marR="63500" anchor="ctr">
                    <a:solidFill>
                      <a:srgbClr val="222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Flag</a:t>
                      </a:r>
                    </a:p>
                  </a:txBody>
                  <a:tcPr marT="25400" marB="25400" marL="63500" marR="63500" anchor="ctr">
                    <a:solidFill>
                      <a:srgbClr val="22264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171717"/>
                          </a:solidFill>
                          <a:latin typeface="Calibri"/>
                        </a:rPr>
                        <a:t>KVYO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3333"/>
                          </a:solidFill>
                          <a:latin typeface="Calibri"/>
                        </a:rPr>
                        <a:t>Klaviyo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3333"/>
                          </a:solidFill>
                          <a:latin typeface="Calibri"/>
                        </a:rPr>
                        <a:t>~6–9x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3333"/>
                          </a:solidFill>
                          <a:latin typeface="Calibri"/>
                        </a:rPr>
                        <a:t>~25–35%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3333"/>
                          </a:solidFill>
                          <a:latin typeface="Calibri"/>
                        </a:rPr>
                        <a:t>~75–77%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3333"/>
                          </a:solidFill>
                          <a:latin typeface="Calibri"/>
                        </a:rPr>
                        <a:t>~45–50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3333"/>
                          </a:solidFill>
                          <a:latin typeface="Calibri"/>
                        </a:rPr>
                        <a:t>closest ICP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171717"/>
                          </a:solidFill>
                          <a:latin typeface="Calibri"/>
                        </a:rPr>
                        <a:t>HUBS</a:t>
                      </a:r>
                    </a:p>
                  </a:txBody>
                  <a:tcPr marT="25400" marB="25400"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3333"/>
                          </a:solidFill>
                          <a:latin typeface="Calibri"/>
                        </a:rPr>
                        <a:t>HubSpot</a:t>
                      </a:r>
                    </a:p>
                  </a:txBody>
                  <a:tcPr marT="25400" marB="25400"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3333"/>
                          </a:solidFill>
                          <a:latin typeface="Calibri"/>
                        </a:rPr>
                        <a:t>~9–12x</a:t>
                      </a:r>
                    </a:p>
                  </a:txBody>
                  <a:tcPr marT="25400" marB="25400"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3333"/>
                          </a:solidFill>
                          <a:latin typeface="Calibri"/>
                        </a:rPr>
                        <a:t>~18–22%</a:t>
                      </a:r>
                    </a:p>
                  </a:txBody>
                  <a:tcPr marT="25400" marB="25400"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3333"/>
                          </a:solidFill>
                          <a:latin typeface="Calibri"/>
                        </a:rPr>
                        <a:t>~84–85%</a:t>
                      </a:r>
                    </a:p>
                  </a:txBody>
                  <a:tcPr marT="25400" marB="25400"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3333"/>
                          </a:solidFill>
                          <a:latin typeface="Calibri"/>
                        </a:rPr>
                        <a:t>~38–42</a:t>
                      </a:r>
                    </a:p>
                  </a:txBody>
                  <a:tcPr marT="25400" marB="25400"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3333"/>
                          </a:solidFill>
                          <a:latin typeface="Calibri"/>
                        </a:rPr>
                        <a:t>platform</a:t>
                      </a:r>
                    </a:p>
                  </a:txBody>
                  <a:tcPr marT="25400" marB="25400" marL="63500" marR="635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171717"/>
                          </a:solidFill>
                          <a:latin typeface="Calibri"/>
                        </a:rPr>
                        <a:t>BRZE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3333"/>
                          </a:solidFill>
                          <a:latin typeface="Calibri"/>
                        </a:rPr>
                        <a:t>Braze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3333"/>
                          </a:solidFill>
                          <a:latin typeface="Calibri"/>
                        </a:rPr>
                        <a:t>~5–7x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3333"/>
                          </a:solidFill>
                          <a:latin typeface="Calibri"/>
                        </a:rPr>
                        <a:t>~22–28%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3333"/>
                          </a:solidFill>
                          <a:latin typeface="Calibri"/>
                        </a:rPr>
                        <a:t>~69–70%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3333"/>
                          </a:solidFill>
                          <a:latin typeface="Calibri"/>
                        </a:rPr>
                        <a:t>~30–40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3333"/>
                          </a:solidFill>
                          <a:latin typeface="Calibri"/>
                        </a:rPr>
                        <a:t>cross-channel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171717"/>
                          </a:solidFill>
                          <a:latin typeface="Calibri"/>
                        </a:rPr>
                        <a:t>SPT</a:t>
                      </a:r>
                    </a:p>
                  </a:txBody>
                  <a:tcPr marT="25400" marB="25400"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3333"/>
                          </a:solidFill>
                          <a:latin typeface="Calibri"/>
                        </a:rPr>
                        <a:t>Sprout Social</a:t>
                      </a:r>
                    </a:p>
                  </a:txBody>
                  <a:tcPr marT="25400" marB="25400"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3333"/>
                          </a:solidFill>
                          <a:latin typeface="Calibri"/>
                        </a:rPr>
                        <a:t>~4–6x</a:t>
                      </a:r>
                    </a:p>
                  </a:txBody>
                  <a:tcPr marT="25400" marB="25400"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3333"/>
                          </a:solidFill>
                          <a:latin typeface="Calibri"/>
                        </a:rPr>
                        <a:t>~18–22%</a:t>
                      </a:r>
                    </a:p>
                  </a:txBody>
                  <a:tcPr marT="25400" marB="25400"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3333"/>
                          </a:solidFill>
                          <a:latin typeface="Calibri"/>
                        </a:rPr>
                        <a:t>~77–78%</a:t>
                      </a:r>
                    </a:p>
                  </a:txBody>
                  <a:tcPr marT="25400" marB="25400"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3333"/>
                          </a:solidFill>
                          <a:latin typeface="Calibri"/>
                        </a:rPr>
                        <a:t>~30–35</a:t>
                      </a:r>
                    </a:p>
                  </a:txBody>
                  <a:tcPr marT="25400" marB="25400"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3333"/>
                          </a:solidFill>
                          <a:latin typeface="Calibri"/>
                        </a:rPr>
                        <a:t>adjacent</a:t>
                      </a:r>
                    </a:p>
                  </a:txBody>
                  <a:tcPr marT="25400" marB="25400" marL="63500" marR="635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171717"/>
                          </a:solidFill>
                          <a:latin typeface="Calibri"/>
                        </a:rPr>
                        <a:t>INTU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3333"/>
                          </a:solidFill>
                          <a:latin typeface="Calibri"/>
                        </a:rPr>
                        <a:t>Intuit (Mailchimp)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3333"/>
                          </a:solidFill>
                          <a:latin typeface="Calibri"/>
                        </a:rPr>
                        <a:t>~9–11x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3333"/>
                          </a:solidFill>
                          <a:latin typeface="Calibri"/>
                        </a:rPr>
                        <a:t>~12–16%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3333"/>
                          </a:solidFill>
                          <a:latin typeface="Calibri"/>
                        </a:rPr>
                        <a:t>~78–80%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3333"/>
                          </a:solidFill>
                          <a:latin typeface="Calibri"/>
                        </a:rPr>
                        <a:t>~45+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3333"/>
                          </a:solidFill>
                          <a:latin typeface="Calibri"/>
                        </a:rPr>
                        <a:t>mega-cap, not pure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171717"/>
                          </a:solidFill>
                          <a:latin typeface="Calibri"/>
                        </a:rPr>
                        <a:t>TWLO</a:t>
                      </a:r>
                    </a:p>
                  </a:txBody>
                  <a:tcPr marT="25400" marB="25400"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3333"/>
                          </a:solidFill>
                          <a:latin typeface="Calibri"/>
                        </a:rPr>
                        <a:t>Twilio (SendGrid)</a:t>
                      </a:r>
                    </a:p>
                  </a:txBody>
                  <a:tcPr marT="25400" marB="25400"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3333"/>
                          </a:solidFill>
                          <a:latin typeface="Calibri"/>
                        </a:rPr>
                        <a:t>~2.5–3.5x</a:t>
                      </a:r>
                    </a:p>
                  </a:txBody>
                  <a:tcPr marT="25400" marB="25400"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3333"/>
                          </a:solidFill>
                          <a:latin typeface="Calibri"/>
                        </a:rPr>
                        <a:t>~8–12%</a:t>
                      </a:r>
                    </a:p>
                  </a:txBody>
                  <a:tcPr marT="25400" marB="25400"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3333"/>
                          </a:solidFill>
                          <a:latin typeface="Calibri"/>
                        </a:rPr>
                        <a:t>~50–55%</a:t>
                      </a:r>
                    </a:p>
                  </a:txBody>
                  <a:tcPr marT="25400" marB="25400"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3333"/>
                          </a:solidFill>
                          <a:latin typeface="Calibri"/>
                        </a:rPr>
                        <a:t>~25–35</a:t>
                      </a:r>
                    </a:p>
                  </a:txBody>
                  <a:tcPr marT="25400" marB="25400"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3333"/>
                          </a:solidFill>
                          <a:latin typeface="Calibri"/>
                        </a:rPr>
                        <a:t>pass-through — exclude</a:t>
                      </a:r>
                    </a:p>
                  </a:txBody>
                  <a:tcPr marT="25400" marB="25400" marL="63500" marR="635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171717"/>
                          </a:solidFill>
                          <a:latin typeface="Calibri"/>
                        </a:rPr>
                        <a:t>SEMR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3333"/>
                          </a:solidFill>
                          <a:latin typeface="Calibri"/>
                        </a:rPr>
                        <a:t>Semrush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3333"/>
                          </a:solidFill>
                          <a:latin typeface="Calibri"/>
                        </a:rPr>
                        <a:t>~5–7x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3333"/>
                          </a:solidFill>
                          <a:latin typeface="Calibri"/>
                        </a:rPr>
                        <a:t>~18–22%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3333"/>
                          </a:solidFill>
                          <a:latin typeface="Calibri"/>
                        </a:rPr>
                        <a:t>~82–83%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3333"/>
                          </a:solidFill>
                          <a:latin typeface="Calibri"/>
                        </a:rPr>
                        <a:t>~28–33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3333"/>
                          </a:solidFill>
                          <a:latin typeface="Calibri"/>
                        </a:rPr>
                        <a:t>Adobe deal — M&amp;A-pegged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171717"/>
                          </a:solidFill>
                          <a:latin typeface="Calibri"/>
                        </a:rPr>
                        <a:t>ZI</a:t>
                      </a:r>
                    </a:p>
                  </a:txBody>
                  <a:tcPr marT="25400" marB="25400"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3333"/>
                          </a:solidFill>
                          <a:latin typeface="Calibri"/>
                        </a:rPr>
                        <a:t>ZoomInfo</a:t>
                      </a:r>
                    </a:p>
                  </a:txBody>
                  <a:tcPr marT="25400" marB="25400"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3333"/>
                          </a:solidFill>
                          <a:latin typeface="Calibri"/>
                        </a:rPr>
                        <a:t>~3.5–5x</a:t>
                      </a:r>
                    </a:p>
                  </a:txBody>
                  <a:tcPr marT="25400" marB="25400"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3333"/>
                          </a:solidFill>
                          <a:latin typeface="Calibri"/>
                        </a:rPr>
                        <a:t>~0–5%</a:t>
                      </a:r>
                    </a:p>
                  </a:txBody>
                  <a:tcPr marT="25400" marB="25400"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3333"/>
                          </a:solidFill>
                          <a:latin typeface="Calibri"/>
                        </a:rPr>
                        <a:t>~84–86%</a:t>
                      </a:r>
                    </a:p>
                  </a:txBody>
                  <a:tcPr marT="25400" marB="25400"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3333"/>
                          </a:solidFill>
                          <a:latin typeface="Calibri"/>
                        </a:rPr>
                        <a:t>~35</a:t>
                      </a:r>
                    </a:p>
                  </a:txBody>
                  <a:tcPr marT="25400" marB="25400"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3333"/>
                          </a:solidFill>
                          <a:latin typeface="Calibri"/>
                        </a:rPr>
                        <a:t>no-growth floor</a:t>
                      </a:r>
                    </a:p>
                  </a:txBody>
                  <a:tcPr marT="25400" marB="25400" marL="63500" marR="635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>
                <a:solidFill>
                  <a:srgbClr val="6F6961"/>
                </a:solidFill>
                <a:latin typeface="Calibri"/>
              </a:rPr>
              <a:t>Central tendency (pure-software subset KVYO/HUBS/BRZE/SPT): ~5–10x EV/Rev for 20–35% growth + Rule-of-40-positive [ILLUSTRATIVE]. Exclude TWLO (infra margins) &amp; SEMR (M&amp;A-pegged) from medians.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5B63FF"/>
                </a:solidFill>
                <a:latin typeface="Calibri"/>
              </a:rPr>
              <a:t>08 · SWOT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71717"/>
                </a:solidFill>
                <a:latin typeface="Calibri"/>
              </a:rPr>
              <a:t>Strong wedge, structurally exposed flank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 i="1">
                <a:solidFill>
                  <a:srgbClr val="6F6961"/>
                </a:solidFill>
                <a:latin typeface="Calibri"/>
              </a:rPr>
              <a:t>Madoo AI · Thematic Market Research · DRAFT — internal, pre-decisional · figures [EST]/[ILLUSTRATIVE]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6F6961"/>
                </a:solidFill>
                <a:latin typeface="Calibri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5440680" cy="2057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/>
          <a:lstStyle/>
          <a:p>
            <a:pPr algn="ctr"/>
            <a:r>
              <a:rPr sz="1300" b="1" i="0">
                <a:solidFill>
                  <a:srgbClr val="0F766E"/>
                </a:solidFill>
                <a:latin typeface="Calibri"/>
              </a:rPr>
              <a:t>STRENGTHS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171717"/>
                </a:solidFill>
                <a:latin typeface="Calibri"/>
              </a:rPr>
              <a:t>• Prompt-native (vision + brand kit), not retrofitted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171717"/>
                </a:solidFill>
                <a:latin typeface="Calibri"/>
              </a:rPr>
              <a:t>• Export-anywhere / no lock-in across many ESPs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171717"/>
                </a:solidFill>
                <a:latin typeface="Calibri"/>
              </a:rPr>
              <a:t>• Integrated QA: test sends, spam/link/a11y/responsive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171717"/>
                </a:solidFill>
                <a:latin typeface="Calibri"/>
              </a:rPr>
              <a:t>• Collaboration + workspaces (agency/team-ready)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171717"/>
                </a:solidFill>
                <a:latin typeface="Calibri"/>
              </a:rPr>
              <a:t>• Bilingual EN/ES — LatAm / US-Hispanic reach</a:t>
            </a:r>
          </a:p>
        </p:txBody>
      </p:sp>
      <p:sp>
        <p:nvSpPr>
          <p:cNvPr id="8" name="Rectangle 7"/>
          <p:cNvSpPr/>
          <p:nvPr/>
        </p:nvSpPr>
        <p:spPr>
          <a:xfrm>
            <a:off x="6199632" y="1783080"/>
            <a:ext cx="5440680" cy="2057400"/>
          </a:xfrm>
          <a:prstGeom prst="rect">
            <a:avLst/>
          </a:prstGeom>
          <a:solidFill>
            <a:srgbClr val="FFFFFF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/>
          <a:lstStyle/>
          <a:p>
            <a:pPr algn="ctr"/>
            <a:r>
              <a:rPr sz="1300" b="1" i="0">
                <a:solidFill>
                  <a:srgbClr val="B45309"/>
                </a:solidFill>
                <a:latin typeface="Calibri"/>
              </a:rPr>
              <a:t>WEAKNESSES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171717"/>
                </a:solidFill>
                <a:latin typeface="Calibri"/>
              </a:rPr>
              <a:t>• Thin slice of value chain — no sticky data relationship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171717"/>
                </a:solidFill>
                <a:latin typeface="Calibri"/>
              </a:rPr>
              <a:t>• Low switching cost / low data gravity (portable HTML)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171717"/>
                </a:solidFill>
                <a:latin typeface="Calibri"/>
              </a:rPr>
              <a:t>• "Feature, not a company" — bundle-able by every ESP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171717"/>
                </a:solidFill>
                <a:latin typeface="Calibri"/>
              </a:rPr>
              <a:t>• Model-cost &amp; commoditization exposure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171717"/>
                </a:solidFill>
                <a:latin typeface="Calibri"/>
              </a:rPr>
              <a:t>• Early-stage brand vs entrenched libraries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023360"/>
            <a:ext cx="5440680" cy="2057400"/>
          </a:xfrm>
          <a:prstGeom prst="rect">
            <a:avLst/>
          </a:prstGeom>
          <a:solidFill>
            <a:srgbClr val="FFFFFF"/>
          </a:solidFill>
          <a:ln w="19050">
            <a:solidFill>
              <a:srgbClr val="5B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/>
          <a:lstStyle/>
          <a:p>
            <a:pPr algn="ctr"/>
            <a:r>
              <a:rPr sz="1300" b="1" i="0">
                <a:solidFill>
                  <a:srgbClr val="5B63FF"/>
                </a:solidFill>
                <a:latin typeface="Calibri"/>
              </a:rPr>
              <a:t>OPPORTUNITIES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171717"/>
                </a:solidFill>
                <a:latin typeface="Calibri"/>
              </a:rPr>
              <a:t>• Agency / freelancer wedge (multi-client, multi-ESP)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171717"/>
                </a:solidFill>
                <a:latin typeface="Calibri"/>
              </a:rPr>
              <a:t>• E-commerce vertical depth (Klaviyo/Shopify-adjacent)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171717"/>
                </a:solidFill>
                <a:latin typeface="Calibri"/>
              </a:rPr>
              <a:t>• White-label reseller + API/embed ("Stripe for email design")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171717"/>
                </a:solidFill>
                <a:latin typeface="Calibri"/>
              </a:rPr>
              <a:t>• MCP / AI-agent distribution — first-mover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171717"/>
                </a:solidFill>
                <a:latin typeface="Calibri"/>
              </a:rPr>
              <a:t>• Brand-kit as soft moat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4023360"/>
            <a:ext cx="5440680" cy="2057400"/>
          </a:xfrm>
          <a:prstGeom prst="rect">
            <a:avLst/>
          </a:prstGeom>
          <a:solidFill>
            <a:srgbClr val="FFFFFF"/>
          </a:solidFill>
          <a:ln w="19050">
            <a:solidFill>
              <a:srgbClr val="B02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/>
          <a:lstStyle/>
          <a:p>
            <a:pPr algn="ctr"/>
            <a:r>
              <a:rPr sz="1300" b="1" i="0">
                <a:solidFill>
                  <a:srgbClr val="B02A37"/>
                </a:solidFill>
                <a:latin typeface="Calibri"/>
              </a:rPr>
              <a:t>THREATS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171717"/>
                </a:solidFill>
                <a:latin typeface="Calibri"/>
              </a:rPr>
              <a:t>• ESP-native AI builders bundled free (primary threat)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171717"/>
                </a:solidFill>
                <a:latin typeface="Calibri"/>
              </a:rPr>
              <a:t>• Foundation-model commoditization of generation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171717"/>
                </a:solidFill>
                <a:latin typeface="Calibri"/>
              </a:rPr>
              <a:t>• Incumbents fast-following prompt-native UX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171717"/>
                </a:solidFill>
                <a:latin typeface="Calibri"/>
              </a:rPr>
              <a:t>• Low switching cost erodes retention post-novelty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171717"/>
                </a:solidFill>
                <a:latin typeface="Calibri"/>
              </a:rPr>
              <a:t>• Crowded, well-funded prompt-to-artifact arena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5B63FF"/>
                </a:solidFill>
                <a:latin typeface="Calibri"/>
              </a:rPr>
              <a:t>09 · DEFENSIBILITY ROADMAP (APPENDIX 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71717"/>
                </a:solidFill>
                <a:latin typeface="Calibri"/>
              </a:rPr>
              <a:t>Moat = process + distribution + network — not the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 i="1">
                <a:solidFill>
                  <a:srgbClr val="6F6961"/>
                </a:solidFill>
                <a:latin typeface="Calibri"/>
              </a:rPr>
              <a:t>Madoo AI · Thematic Market Research · DRAFT — internal, pre-decisional · figures [EST]/[ILLUSTRATIVE]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6F6961"/>
                </a:solidFill>
                <a:latin typeface="Calibri"/>
              </a:rPr>
              <a:t>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874519"/>
          <a:ext cx="11091670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63750"/>
                <a:gridCol w="6747433"/>
                <a:gridCol w="2680487"/>
              </a:tblGrid>
              <a:tr h="50292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Horizon</a:t>
                      </a:r>
                    </a:p>
                  </a:txBody>
                  <a:tcPr marT="25400" marB="25400" marL="63500" marR="63500" anchor="ctr">
                    <a:solidFill>
                      <a:srgbClr val="222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Move</a:t>
                      </a:r>
                    </a:p>
                  </a:txBody>
                  <a:tcPr marT="25400" marB="25400" marL="63500" marR="63500" anchor="ctr">
                    <a:solidFill>
                      <a:srgbClr val="222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Moat type</a:t>
                      </a:r>
                    </a:p>
                  </a:txBody>
                  <a:tcPr marT="25400" marB="25400" marL="63500" marR="63500" anchor="ctr">
                    <a:solidFill>
                      <a:srgbClr val="22264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71717"/>
                          </a:solidFill>
                          <a:latin typeface="Calibri"/>
                        </a:rPr>
                        <a:t>Now 0–6 mo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Brand-kit depth + approved component library + approval workflow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Switching cost (process)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71717"/>
                          </a:solidFill>
                          <a:latin typeface="Calibri"/>
                        </a:rPr>
                        <a:t>Now 0–6 mo</a:t>
                      </a:r>
                    </a:p>
                  </a:txBody>
                  <a:tcPr marT="25400" marB="25400"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Multi-ESP export reliability + QA track record</a:t>
                      </a:r>
                    </a:p>
                  </a:txBody>
                  <a:tcPr marT="25400" marB="25400"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Switching cost (trust)</a:t>
                      </a:r>
                    </a:p>
                  </a:txBody>
                  <a:tcPr marT="25400" marB="25400" marL="63500" marR="635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71717"/>
                          </a:solidFill>
                          <a:latin typeface="Calibri"/>
                        </a:rPr>
                        <a:t>Next 6–18 mo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API / embed ("Stripe for email design")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Distribution + platform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71717"/>
                          </a:solidFill>
                          <a:latin typeface="Calibri"/>
                        </a:rPr>
                        <a:t>Next 6–18 mo</a:t>
                      </a:r>
                    </a:p>
                  </a:txBody>
                  <a:tcPr marT="25400" marB="25400"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Agency white-label reseller program</a:t>
                      </a:r>
                    </a:p>
                  </a:txBody>
                  <a:tcPr marT="25400" marB="25400"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Distribution (channel)</a:t>
                      </a:r>
                    </a:p>
                  </a:txBody>
                  <a:tcPr marT="25400" marB="25400" marL="63500" marR="635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71717"/>
                          </a:solidFill>
                          <a:latin typeface="Calibri"/>
                        </a:rPr>
                        <a:t>Next 6–18 mo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MCP / agent-callable tool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Distribution (first-mover)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71717"/>
                          </a:solidFill>
                          <a:latin typeface="Calibri"/>
                        </a:rPr>
                        <a:t>Later 18 mo+</a:t>
                      </a:r>
                    </a:p>
                  </a:txBody>
                  <a:tcPr marT="25400" marB="25400"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Vertical brand intelligence (e-commerce, product-feed-aware)</a:t>
                      </a:r>
                    </a:p>
                  </a:txBody>
                  <a:tcPr marT="25400" marB="25400"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Data/quality flywheel</a:t>
                      </a:r>
                    </a:p>
                  </a:txBody>
                  <a:tcPr marT="25400" marB="25400" marL="63500" marR="635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71717"/>
                          </a:solidFill>
                          <a:latin typeface="Calibri"/>
                        </a:rPr>
                        <a:t>Later 18 mo+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Adjacent DESIGN surfaces (landing/SMS/ad creative)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TAM expansion</a:t>
                      </a:r>
                    </a:p>
                  </a:txBody>
                  <a:tcPr marT="25400" marB="25400" marL="63500" marR="63500" anchor="ctr">
                    <a:solidFill>
                      <a:srgbClr val="F2F1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71717"/>
                          </a:solidFill>
                          <a:latin typeface="Calibri"/>
                        </a:rPr>
                        <a:t>Later 18 mo+</a:t>
                      </a:r>
                    </a:p>
                  </a:txBody>
                  <a:tcPr marT="25400" marB="25400"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Component / template marketplace</a:t>
                      </a:r>
                    </a:p>
                  </a:txBody>
                  <a:tcPr marT="25400" marB="25400"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Network effect</a:t>
                      </a:r>
                    </a:p>
                  </a:txBody>
                  <a:tcPr marT="25400" marB="25400" marL="63500" marR="635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>
                <a:solidFill>
                  <a:srgbClr val="B02A37"/>
                </a:solidFill>
                <a:latin typeface="Calibri"/>
              </a:rPr>
              <a:t>Do NOT build: lists, sending, deliverability, analytics, compliance, domains, automations. Each pulls Madoo into head-to-head ESP competition. Staying upstream IS the thesis.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5B63FF"/>
                </a:solidFill>
                <a:latin typeface="Calibri"/>
              </a:rPr>
              <a:t>10 · AGENCY WHITE-LABEL GTM (APPENDIX B)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71717"/>
                </a:solidFill>
                <a:latin typeface="Calibri"/>
              </a:rPr>
              <a:t>The #1 ICP — least exposed to ESP bundling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 i="1">
                <a:solidFill>
                  <a:srgbClr val="6F6961"/>
                </a:solidFill>
                <a:latin typeface="Calibri"/>
              </a:rPr>
              <a:t>Madoo AI · Thematic Market Research · DRAFT — internal, pre-decisional · figures [EST]/[ILLUSTRATIVE]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6F6961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50" b="0" i="0">
                <a:solidFill>
                  <a:srgbClr val="171717"/>
                </a:solidFill>
                <a:latin typeface="Calibri"/>
              </a:rPr>
              <a:t>▸ Why agencies first: multi-client / multi-ESP feel export-anywhere on every job; liable for rendering (QA de-risks); retainer economics (more output/hour = margin); review cycles map to approvals; least threatened by ESP-bundled AI.</a:t>
            </a:r>
          </a:p>
          <a:p>
            <a:pPr>
              <a:spcAft>
                <a:spcPts val="800"/>
              </a:spcAft>
            </a:pPr>
            <a:r>
              <a:rPr sz="1350" b="0" i="0">
                <a:solidFill>
                  <a:srgbClr val="171717"/>
                </a:solidFill>
                <a:latin typeface="Calibri"/>
              </a:rPr>
              <a:t>▸ Offer: white-label tier — agency branding + custom-domain preview/approval links, per-client workspaces, per-seat access, poolable credits, per-client usage reporting (bill-through).</a:t>
            </a:r>
          </a:p>
          <a:p>
            <a:pPr>
              <a:spcAft>
                <a:spcPts val="800"/>
              </a:spcAft>
            </a:pPr>
            <a:r>
              <a:rPr sz="1350" b="0" i="0">
                <a:solidFill>
                  <a:srgbClr val="171717"/>
                </a:solidFill>
                <a:latin typeface="Calibri"/>
              </a:rPr>
              <a:t>▸ Expansion: land 1 seat → expand by clients (workspaces) → white-label upsell. ACV ~$2–10k/yr vs ~$300–1,140 self-serve (3–10x), with lower churn.</a:t>
            </a:r>
          </a:p>
          <a:p>
            <a:pPr>
              <a:spcAft>
                <a:spcPts val="800"/>
              </a:spcAft>
            </a:pPr>
            <a:r>
              <a:rPr sz="1350" b="0" i="0">
                <a:solidFill>
                  <a:srgbClr val="171717"/>
                </a:solidFill>
                <a:latin typeface="Calibri"/>
              </a:rPr>
              <a:t>▸ Channels (ranked): ESP/e-commerce partner ecosystems (Klaviyo/Shopify/HubSpot partner dirs) → agency communities &amp; content → referral/affiliate → founder-led onboarding for first 20–50.</a:t>
            </a:r>
          </a:p>
          <a:p>
            <a:pPr>
              <a:spcAft>
                <a:spcPts val="800"/>
              </a:spcAft>
            </a:pPr>
            <a:r>
              <a:rPr sz="1350" b="0" i="0">
                <a:solidFill>
                  <a:srgbClr val="171717"/>
                </a:solidFill>
                <a:latin typeface="Calibri"/>
              </a:rPr>
              <a:t>▸ Gaps to close: per-client brand-kit isolation · white-label preview links · usage reporting · reliability/SLA posture.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4360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>
                <a:solidFill>
                  <a:srgbClr val="6F6961"/>
                </a:solidFill>
                <a:latin typeface="Calibri"/>
              </a:rPr>
              <a:t>KPIs: workspaces/agency · seats/agency · white-label attach · emails/mo · gross &amp; net revenue retention · multi-ESP exports/account.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5B63FF"/>
                </a:solidFill>
                <a:latin typeface="Calibri"/>
              </a:rPr>
              <a:t>11 · MONETIZATION READ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71717"/>
                </a:solidFill>
                <a:latin typeface="Calibri"/>
              </a:rPr>
              <a:t>Credit-based is right — land on credits, expand on seats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 i="1">
                <a:solidFill>
                  <a:srgbClr val="6F6961"/>
                </a:solidFill>
                <a:latin typeface="Calibri"/>
              </a:rPr>
              <a:t>Madoo AI · Thematic Market Research · DRAFT — internal, pre-decisional · figures [EST]/[ILLUSTRATIVE]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6F6961"/>
                </a:solidFill>
                <a:latin typeface="Calibr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50" b="0" i="0">
                <a:solidFill>
                  <a:srgbClr val="171717"/>
                </a:solidFill>
                <a:latin typeface="Calibri"/>
              </a:rPr>
              <a:t>▸ Credit-based fits a generation tool: marginal cost is AI inference, not list size. Aligns price to cost + value, and avoids competing on the ESPs' "price per 10k contacts" axis — reinforcing the "different layer" narrative.</a:t>
            </a:r>
          </a:p>
          <a:p>
            <a:pPr>
              <a:spcAft>
                <a:spcPts val="700"/>
              </a:spcAft>
            </a:pPr>
            <a:r>
              <a:rPr sz="1350" b="1" i="0">
                <a:solidFill>
                  <a:srgbClr val="171717"/>
                </a:solidFill>
                <a:latin typeface="Calibri"/>
              </a:rPr>
              <a:t>▸ Watch-outs:</a:t>
            </a:r>
          </a:p>
          <a:p>
            <a:pPr lvl="1">
              <a:spcAft>
                <a:spcPts val="700"/>
              </a:spcAft>
            </a:pPr>
            <a:r>
              <a:rPr sz="1250" b="0" i="0">
                <a:solidFill>
                  <a:srgbClr val="6F6961"/>
                </a:solidFill>
                <a:latin typeface="Calibri"/>
              </a:rPr>
              <a:t>– Usage anxiety — users ration generations, killing the describe-refine-iterate loop that makes the product magical.</a:t>
            </a:r>
          </a:p>
          <a:p>
            <a:pPr lvl="1">
              <a:spcAft>
                <a:spcPts val="700"/>
              </a:spcAft>
            </a:pPr>
            <a:r>
              <a:rPr sz="1250" b="0" i="0">
                <a:solidFill>
                  <a:srgbClr val="6F6961"/>
                </a:solidFill>
                <a:latin typeface="Calibri"/>
              </a:rPr>
              <a:t>– Keep consumption transparent + forgiving; don't burn credits on trivial edits.</a:t>
            </a:r>
          </a:p>
          <a:p>
            <a:pPr lvl="1">
              <a:spcAft>
                <a:spcPts val="700"/>
              </a:spcAft>
            </a:pPr>
            <a:r>
              <a:rPr sz="1250" b="0" i="0">
                <a:solidFill>
                  <a:srgbClr val="6F6961"/>
                </a:solidFill>
                <a:latin typeface="Calibri"/>
              </a:rPr>
              <a:t>– Free tier + 7-day trial must reach the "wow" (finished, exported, tested email) before any wall.</a:t>
            </a:r>
          </a:p>
          <a:p>
            <a:pPr>
              <a:spcAft>
                <a:spcPts val="700"/>
              </a:spcAft>
            </a:pPr>
            <a:r>
              <a:rPr sz="1350" b="0" i="0">
                <a:solidFill>
                  <a:srgbClr val="171717"/>
                </a:solidFill>
                <a:latin typeface="Calibri"/>
              </a:rPr>
              <a:t>▸ Recommendation: meter expensive net-new generations; be generous on iteration/refinement. Make SEATS + WORKSPACES the primary expansion lever; white-label/reseller is the highest-leverage path.</a:t>
            </a:r>
          </a:p>
          <a:p>
            <a:pPr>
              <a:spcAft>
                <a:spcPts val="700"/>
              </a:spcAft>
            </a:pPr>
            <a:r>
              <a:rPr sz="1350" b="0" i="0">
                <a:solidFill>
                  <a:srgbClr val="171717"/>
                </a:solidFill>
                <a:latin typeface="Calibri"/>
              </a:rPr>
              <a:t>▸ Pricing today: Basic $25 (100 cr) · Medium $50 (250 cr) · Pro $95 (550 cr) · 7-day trial · yearly ~16% off.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5B63FF"/>
                </a:solidFill>
                <a:latin typeface="Calibri"/>
              </a:rPr>
              <a:t>12 · OPEN ITEMS — VERIFY BEFORE REUSE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71717"/>
                </a:solidFill>
                <a:latin typeface="Calibri"/>
              </a:rPr>
              <a:t>Review gates &amp; weakest figures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 i="1">
                <a:solidFill>
                  <a:srgbClr val="6F6961"/>
                </a:solidFill>
                <a:latin typeface="Calibri"/>
              </a:rPr>
              <a:t>Madoo AI · Thematic Market Research · DRAFT — internal, pre-decisional · figures [EST]/[ILLUSTRATIVE]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6F6961"/>
                </a:solidFill>
                <a:latin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 i="0">
                <a:solidFill>
                  <a:srgbClr val="171717"/>
                </a:solidFill>
                <a:latin typeface="Calibri"/>
              </a:rPr>
              <a:t>▸ Refresh ALL multiples &amp; financials from CapIQ/FactSet — every §4 number is illustrative and stale.</a:t>
            </a:r>
          </a:p>
          <a:p>
            <a:pPr>
              <a:spcAft>
                <a:spcPts val="900"/>
              </a:spcAft>
            </a:pPr>
            <a:r>
              <a:rPr sz="1400" b="0" i="0">
                <a:solidFill>
                  <a:srgbClr val="171717"/>
                </a:solidFill>
                <a:latin typeface="Calibri"/>
              </a:rPr>
              <a:t>▸ Confirm Semrush/Adobe deal status (announced vs closed); decide whether to include SEMR in the trading set.</a:t>
            </a:r>
          </a:p>
          <a:p>
            <a:pPr>
              <a:spcAft>
                <a:spcPts val="900"/>
              </a:spcAft>
            </a:pPr>
            <a:r>
              <a:rPr sz="1400" b="0" i="0">
                <a:solidFill>
                  <a:srgbClr val="171717"/>
                </a:solidFill>
                <a:latin typeface="Calibri"/>
              </a:rPr>
              <a:t>▸ Verify private funding figures (beehiiv Series B, Knak round, Mailmodo stage) before citing.</a:t>
            </a:r>
          </a:p>
          <a:p>
            <a:pPr>
              <a:spcAft>
                <a:spcPts val="900"/>
              </a:spcAft>
            </a:pPr>
            <a:r>
              <a:rPr sz="1400" b="0" i="0">
                <a:solidFill>
                  <a:srgbClr val="171717"/>
                </a:solidFill>
                <a:latin typeface="Calibri"/>
              </a:rPr>
              <a:t>▸ Tighten the email-design sub-segment TAM — the weakest estimate; Appendix A triangulation narrows it to ~$0.4–1.2B but needs a sourced definition.</a:t>
            </a:r>
          </a:p>
          <a:p>
            <a:pPr>
              <a:spcAft>
                <a:spcPts val="900"/>
              </a:spcAft>
            </a:pPr>
            <a:r>
              <a:rPr sz="1400" b="0" i="0">
                <a:solidFill>
                  <a:srgbClr val="171717"/>
                </a:solidFill>
                <a:latin typeface="Calibri"/>
              </a:rPr>
              <a:t>▸ Validate Madoo's ESP integration list &amp; feature claims against the live product/landing page at publication.</a:t>
            </a:r>
          </a:p>
          <a:p>
            <a:pPr>
              <a:spcAft>
                <a:spcPts val="900"/>
              </a:spcAft>
            </a:pPr>
            <a:r>
              <a:rPr sz="1400" b="0" i="0">
                <a:solidFill>
                  <a:srgbClr val="171717"/>
                </a:solidFill>
                <a:latin typeface="Calibri"/>
              </a:rPr>
              <a:t>▸ Analyst sign-off required at both review gates (post-comps, post-note) before any onward use.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